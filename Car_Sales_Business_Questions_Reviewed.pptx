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Top 5 Companies by Units Sold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Companies by Units Sold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Chevrolet</c:v>
                  </c:pt>
                  <c:pt idx="1">
                    <c:v>Dodge</c:v>
                  </c:pt>
                  <c:pt idx="2">
                    <c:v>Ford</c:v>
                  </c:pt>
                  <c:pt idx="3">
                    <c:v>Volkswagen</c:v>
                  </c:pt>
                  <c:pt idx="4">
                    <c:v>Mercedes-B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1819</c:v>
                </c:pt>
                <c:pt idx="1">
                  <c:v>1670</c:v>
                </c:pt>
                <c:pt idx="2">
                  <c:v>1614</c:v>
                </c:pt>
                <c:pt idx="3">
                  <c:v>1333</c:v>
                </c:pt>
                <c:pt idx="4">
                  <c:v>1285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Top 5 Models by Units Sold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Models by Units Sold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Diamante</c:v>
                  </c:pt>
                  <c:pt idx="1">
                    <c:v>Silhouette</c:v>
                  </c:pt>
                  <c:pt idx="2">
                    <c:v>Prizm</c:v>
                  </c:pt>
                  <c:pt idx="3">
                    <c:v>Passat</c:v>
                  </c:pt>
                  <c:pt idx="4">
                    <c:v>Jetta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418</c:v>
                </c:pt>
                <c:pt idx="1">
                  <c:v>411</c:v>
                </c:pt>
                <c:pt idx="2">
                  <c:v>411</c:v>
                </c:pt>
                <c:pt idx="3">
                  <c:v>391</c:v>
                </c:pt>
                <c:pt idx="4">
                  <c:v>382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Units Sold by Body Style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 by Body Style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SUV</c:v>
                  </c:pt>
                  <c:pt idx="1">
                    <c:v>Hatchback</c:v>
                  </c:pt>
                  <c:pt idx="2">
                    <c:v>Sedan</c:v>
                  </c:pt>
                  <c:pt idx="3">
                    <c:v>Passenger</c:v>
                  </c:pt>
                  <c:pt idx="4">
                    <c:v>Hardtop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6374</c:v>
                </c:pt>
                <c:pt idx="1">
                  <c:v>6128</c:v>
                </c:pt>
                <c:pt idx="2">
                  <c:v>4488</c:v>
                </c:pt>
                <c:pt idx="3">
                  <c:v>3945</c:v>
                </c:pt>
                <c:pt idx="4">
                  <c:v>2970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Transmission Share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 Share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bubble3D val="0"/>
            <c:spPr>
              <a:solidFill>
                <a:srgbClr val="EF23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Automatic</c:v>
                </c:pt>
                <c:pt idx="1">
                  <c:v>Manual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52.6</c:v>
                </c:pt>
                <c:pt idx="1">
                  <c:v>47.4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2B2D4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Top 5 Regions by Units Sold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Regions by Units Sold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Austin</c:v>
                  </c:pt>
                  <c:pt idx="1">
                    <c:v>Janesville</c:v>
                  </c:pt>
                  <c:pt idx="2">
                    <c:v>Scottsdale</c:v>
                  </c:pt>
                  <c:pt idx="3">
                    <c:v>Pasco</c:v>
                  </c:pt>
                  <c:pt idx="4">
                    <c:v>Aurora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4135</c:v>
                </c:pt>
                <c:pt idx="1">
                  <c:v>3821</c:v>
                </c:pt>
                <c:pt idx="2">
                  <c:v>3433</c:v>
                </c:pt>
                <c:pt idx="3">
                  <c:v>3131</c:v>
                </c:pt>
                <c:pt idx="4">
                  <c:v>3129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Average Price by Body Style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Price by Body Style ($)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Sedan</c:v>
                  </c:pt>
                  <c:pt idx="1">
                    <c:v>Hardtop</c:v>
                  </c:pt>
                  <c:pt idx="2">
                    <c:v>Passenger</c:v>
                  </c:pt>
                  <c:pt idx="3">
                    <c:v>Hatchback</c:v>
                  </c:pt>
                  <c:pt idx="4">
                    <c:v>SUV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29833</c:v>
                </c:pt>
                <c:pt idx="1">
                  <c:v>29146</c:v>
                </c:pt>
                <c:pt idx="2">
                  <c:v>28942</c:v>
                </c:pt>
                <c:pt idx="3">
                  <c:v>27127</c:v>
                </c:pt>
                <c:pt idx="4">
                  <c:v>26768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Top 5 Companies by Average Price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Companies by Average Price ($)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Cadillac</c:v>
                  </c:pt>
                  <c:pt idx="1">
                    <c:v>Saab</c:v>
                  </c:pt>
                  <c:pt idx="2">
                    <c:v>Lexus</c:v>
                  </c:pt>
                  <c:pt idx="3">
                    <c:v>Buick</c:v>
                  </c:pt>
                  <c:pt idx="4">
                    <c:v>Oldsmobile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40972</c:v>
                </c:pt>
                <c:pt idx="1">
                  <c:v>36516</c:v>
                </c:pt>
                <c:pt idx="2">
                  <c:v>34025</c:v>
                </c:pt>
                <c:pt idx="3">
                  <c:v>33634</c:v>
                </c:pt>
                <c:pt idx="4">
                  <c:v>31894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D4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D42"/>
                </a:solidFill>
                <a:latin typeface="Arial"/>
              </a:rPr>
              <a:t>Top 5 Companies by Total Revenue ($M)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Companies by Total Revenue ($M)</c:v>
                </c:pt>
              </c:strCache>
            </c:strRef>
          </c:tx>
          <c:spPr>
            <a:solidFill>
              <a:srgbClr val="2B2D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B2D4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B2D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23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9A3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C617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Chevrolet</c:v>
                  </c:pt>
                  <c:pt idx="1">
                    <c:v>Ford</c:v>
                  </c:pt>
                  <c:pt idx="2">
                    <c:v>Dodge</c:v>
                  </c:pt>
                  <c:pt idx="3">
                    <c:v>Oldsmobile</c:v>
                  </c:pt>
                  <c:pt idx="4">
                    <c:v>Mercedes-B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47.66</c:v>
                </c:pt>
                <c:pt idx="1">
                  <c:v>47.23</c:v>
                </c:pt>
                <c:pt idx="2">
                  <c:v>44.08</c:v>
                </c:pt>
                <c:pt idx="3">
                  <c:v>35.43</c:v>
                </c:pt>
                <c:pt idx="4">
                  <c:v>34.62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2B2D4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0E4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image" Target="../media/image-1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881360" y="-1188720"/>
            <a:ext cx="2926080" cy="2926080"/>
          </a:xfrm>
          <a:prstGeom prst="ellipse">
            <a:avLst/>
          </a:prstGeom>
          <a:solidFill>
            <a:srgbClr val="262A46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052560" y="4160520"/>
            <a:ext cx="3291840" cy="329184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0012680" y="5029200"/>
            <a:ext cx="1005840" cy="1005840"/>
          </a:xfrm>
          <a:prstGeom prst="ellipse">
            <a:avLst/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0012680" y="501091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•  EXPLORATORY DATA ANALYSIS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23444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Sales Data Analysis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2402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Uncovering demand, pricing, and regional patterns across 23,906 dealership transactions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2971800"/>
            <a:ext cx="2011680" cy="0"/>
          </a:xfrm>
          <a:prstGeom prst="line">
            <a:avLst/>
          </a:prstGeom>
          <a:noFill/>
          <a:ln w="31750">
            <a:solidFill>
              <a:srgbClr val="EF233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 </a:t>
            </a:r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(2022–2023), 23,906 records, 16 attributes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63931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NumPy  •  Matplotlib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080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business owner — data-driven decisions on inventory, pricing, and regional investment</a:t>
            </a:r>
            <a:endParaRPr lang="en-US" sz="1100" dirty="0"/>
          </a:p>
        </p:txBody>
      </p:sp>
      <p:pic>
        <p:nvPicPr>
          <p:cNvPr id="14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 w="12700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79576" y="237744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79576" y="2359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383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97764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analyzed this dataset and what questions we set out to answer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8064" y="187452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2980944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429000" y="237744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3429000" y="2359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935224" y="3383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80944" y="397764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scope, and quality of the raw car sales data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47488" y="187452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5230368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78424" y="237744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678424" y="2359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🔽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184648" y="3383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97764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values, types, and outliers before analysis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96912" y="187452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479792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927848" y="2377440"/>
            <a:ext cx="822960" cy="82296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927848" y="2359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434072" y="3383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Key Questions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79792" y="397764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pricing, regional, and demographic insights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46336" y="187452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9729216" y="20391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D99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0177272" y="2377440"/>
            <a:ext cx="822960" cy="82296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10177272" y="2359152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683496" y="3383280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9729216" y="3977640"/>
            <a:ext cx="171907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and recommendations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/ 18</a:t>
            </a:r>
            <a:endParaRPr lang="en-US" sz="900" dirty="0"/>
          </a:p>
        </p:txBody>
      </p:sp>
      <p:pic>
        <p:nvPicPr>
          <p:cNvPr id="37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417320" y="1920240"/>
            <a:ext cx="1463040" cy="146304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1417320" y="1901952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6118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68580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raw dealership records into decisions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828800"/>
            <a:ext cx="7315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performs an end-to-end exploratory data analysis (EDA) on a two-year car sales dataset to understand what drives sales volume and pricing across companies, models, body styles, regions, and dealers.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3017520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343400" y="2999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304495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best-selling companies, models, and body styles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43400" y="3675888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3434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💲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37033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 pricing across segments and regions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343400" y="4334256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4343400" y="43159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4361688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monthly sales evolve over the two-year period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43400" y="4992624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343400" y="4974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5020056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whether income and demographics relate to pricing choices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/ 18</a:t>
            </a:r>
            <a:endParaRPr lang="en-US" sz="900" dirty="0"/>
          </a:p>
        </p:txBody>
      </p:sp>
      <p:pic>
        <p:nvPicPr>
          <p:cNvPr id="2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23,906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11880" y="18745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611880" y="21031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834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3886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2022–2023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617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11880" y="365760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611880" y="38862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4617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0840" y="1874520"/>
            <a:ext cx="4937760" cy="4069080"/>
          </a:xfrm>
          <a:prstGeom prst="roundRect">
            <a:avLst>
              <a:gd name="adj" fmla="val 1798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040880" y="2057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Columns, 4 Groups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260604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291693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Car_id, Date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347472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78561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Name, Gender, Annual Income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34340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465429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Company, Model, Engine, Transmission, Color, Body Style, Price ($)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040880" y="5212080"/>
            <a:ext cx="4297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5522976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Dealer_Name, Dealer_No, Dealer_Region, Phone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18</a:t>
            </a:r>
            <a:endParaRPr lang="en-US" sz="900" dirty="0"/>
          </a:p>
        </p:txBody>
      </p:sp>
      <p:pic>
        <p:nvPicPr>
          <p:cNvPr id="29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Quality Checks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1488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missing "Customer Name" was dropped (23,906 → 23,905 rows); all other columns were fully complete.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8745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0" y="21488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583680" y="2130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21488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7889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"Date" parsed to datetime; Gender, Company, Model, Engine, Transmission, Color, Body Style, and Dealer_Region cast to categorical.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2296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🔽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2062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46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exact duplicate rows found across all 16 columns — no de-duplication needed.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583680" y="41879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4206240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scan (IQR)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84632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Income and Price both show right-skewed distributions with IQR-based outliers on the high end, consistent with luxury purchases.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/ 18</a:t>
            </a:r>
            <a:endParaRPr lang="en-US" sz="900" dirty="0"/>
          </a:p>
        </p:txBody>
      </p:sp>
      <p:pic>
        <p:nvPicPr>
          <p:cNvPr id="27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Statistics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67512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2057400"/>
                <a:gridCol w="205740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Income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($)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D4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830,840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28,090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720,006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14,789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85,800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1.74 (right-skewed)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2B2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 (right-skewed)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83480"/>
            <a:ext cx="6675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between Annual Income and Price ($): r ≈ 0.012 — essentially no linear relationship.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7543800" y="187452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818120" y="2148840"/>
            <a:ext cx="502920" cy="50292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818120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834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variables are right-skewed: most customers earn and pay near the median, with a smaller group of high-income buyers pulling the average price and income upward.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/ 18</a:t>
            </a:r>
            <a:endParaRPr lang="en-US" sz="900" dirty="0"/>
          </a:p>
        </p:txBody>
      </p:sp>
      <p:pic>
        <p:nvPicPr>
          <p:cNvPr id="1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SNAPSHOT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 That Matter First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E2032"/>
          </a:solidFill>
          <a:ln w="12700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$671.5M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Value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E2032"/>
          </a:solidFill>
          <a:ln w="12700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3756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$28,090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E2032"/>
          </a:solidFill>
          <a:ln w="12700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12648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$23,000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Price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51760" cy="1463040"/>
          </a:xfrm>
          <a:prstGeom prst="roundRect">
            <a:avLst>
              <a:gd name="adj" fmla="val 5000"/>
            </a:avLst>
          </a:prstGeom>
          <a:solidFill>
            <a:srgbClr val="1E2032"/>
          </a:solidFill>
          <a:ln w="12700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915400" y="182880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23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23,905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915400" y="25146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20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brand (units): Chevrolet (1,819)     |     Top brand (sales value): Chevrolet ($47.7M)     |     Top body style: SUV (6,374 units)     |     Auto/Manual split: 52.6% / 47.4%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D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ten questions on the following pages break these headline numbers down into decisions the business can act on this quarter.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/ 18</a:t>
            </a:r>
            <a:endParaRPr lang="en-US" sz="900" dirty="0"/>
          </a:p>
        </p:txBody>
      </p:sp>
      <p:pic>
        <p:nvPicPr>
          <p:cNvPr id="21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car companies (brands) sell the most units?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brands to prioritize in inventory and marketing spend.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 leads with 1,819 units, followed closely by Dodge and Ford. These three brands alone account for a large share of total volume — never let them run out of stock, and protect their promotional budget first if spend is ever cut.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car models are most popular?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Pinpoints exactly which SKUs to reorder, beyond the brand level.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model dominates — the top five are tightly clustered between 380 and 420 units. This means reordering decisions should be spread across a diversified model list rather than betting heavily on one SKU.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body style dominates sales?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showroom space, floor planning, and supplier negotiation by category.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SUVs and Hatchbacks together make up more than half of all sales. Showroom and lot space should be weighted toward these two categories, with slower-moving body styles reviewed for reduced inventory commitments.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10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vs Manual — what's the real split?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Informs procurement mix and supplier negotiations on transmission type.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is close to even (52.6% Automatic vs 47.4% Manual) — closer than many assume. Manual is not a niche in this market; procurement should keep both types well stocked rather than defaulting to automatic-only inventory.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11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dealer regions generate the most sales?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Directs regional investment, staffing, and expansion priorities.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and Janesville are the clear leaders. These regions are the strongest candidates for opening additional outlets or expanding floor space, while lagging regions may need a targeted marketing push or a dealer performance review.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12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body style commands the highest average price?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vehicle category has the highest average selling price and may support premium positioning.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have the highest average selling price, while SUVs lead in volume. This suggests an opportunity to explore premium positioning and upsell strategies for sedan buyers.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13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company has the highest average price?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brands are positioned as premium versus volume in this network.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Cadillac is the clear premium leader at nearly $41,000 average — well above the network average of $28,090. These brands deserve higher-touch sales service and premium financing partnerships rather than volume-style promotions.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14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there a relationship between customer income and car price?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income-based customer segmentation is a useful sales strategy at all.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8580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q8_heatmap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03120"/>
            <a:ext cx="658368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correlation is essentially zero (0.01). Customer income does not show a meaningful linear relationship with car price (r ≈ 0.012). Avoid using income alone to predict the price band a customer will choose; test additional behavioral and market factors.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15 / 18</a:t>
            </a:r>
            <a:endParaRPr lang="en-US" sz="900" dirty="0"/>
          </a:p>
        </p:txBody>
      </p:sp>
      <p:pic>
        <p:nvPicPr>
          <p:cNvPr id="1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 sales change over time?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seasonality to guide staffing, promotions, and cash-flow planning.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685800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  <p:txBody>
          <a:bodyPr/>
          <a:p/>
        </p:txBody>
      </p:sp>
      <p:pic>
        <p:nvPicPr>
          <p:cNvPr id="6" name="Image 0" descr="yearly_monthly_v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2103120"/>
            <a:ext cx="658368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2022 and 2023 show a similar monthly pattern: a slower start in Jan-Feb, a rise through the year, a September peak, an October dip, and stronger sales in Nov-Dec. The repeated pattern suggests seasonality, although two years of data is a limited basis for confirming a long-term seasonal effect.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16 / 18</a:t>
            </a:r>
            <a:endParaRPr lang="en-US" sz="900" dirty="0"/>
          </a:p>
        </p:txBody>
      </p:sp>
      <p:pic>
        <p:nvPicPr>
          <p:cNvPr id="13" name="Image 1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companies generate the highest total revenue?</a:t>
            </a:r>
            <a:endParaRPr lang="en-US" sz="2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leaders and sales-value leaders are not always the same brand — this shows where the total sales value is concentrated.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65960"/>
          <a:ext cx="68580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965960"/>
            <a:ext cx="4160520" cy="3977640"/>
          </a:xfrm>
          <a:prstGeom prst="roundRect">
            <a:avLst>
              <a:gd name="adj" fmla="val 1839"/>
            </a:avLst>
          </a:prstGeom>
          <a:solidFill>
            <a:srgbClr val="2B2D42"/>
          </a:solidFill>
          <a:ln/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7818120" y="2194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TAKEAWAY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 leads in both units and total sales value. Oldsmobile reaches the top 5 in sales value despite lower unit volume, indicating a relatively higher average selling price. Compare both volume and sales value when evaluating brand performance.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17 / 18</a:t>
            </a:r>
            <a:endParaRPr lang="en-US" sz="900" dirty="0"/>
          </a:p>
        </p:txBody>
      </p:sp>
      <p:pic>
        <p:nvPicPr>
          <p:cNvPr id="12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2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F2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Owner Should Do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E2032"/>
          </a:solidFill>
          <a:ln w="9525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85623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13232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28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top sellers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313432"/>
            <a:ext cx="4526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Chevrolet, Dodge, and Ford — and the SUV/Hatchback body styles — always in stock.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0" y="169164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E2032"/>
          </a:solidFill>
          <a:ln w="9525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73952" y="185623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73952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💲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8288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by sales value, not units alone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313432"/>
            <a:ext cx="4526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Chevrolet leads both, while Oldsmobile's sales-value rank is stronger than its unit rank — consider both measures when allocating marketing spend.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E2032"/>
          </a:solidFill>
          <a:ln w="9525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" y="350215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13232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747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where demand already 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959352"/>
            <a:ext cx="4526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Austin and Janesville are proven regions; prioritize them for new outlets or added floor space.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333756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E2032"/>
          </a:solidFill>
          <a:ln w="9525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473952" y="350215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473952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34747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through Sedans &amp; premium brands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959352"/>
            <a:ext cx="4526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Sedans and Cadillac/Saab/Lexus carry the highest average prices — target financing offers there.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E2032"/>
          </a:solidFill>
          <a:ln w="9525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" y="514807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713232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20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seasonality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605272"/>
            <a:ext cx="4526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vary substantially — align staffing, inventory, and promotions with the stronger months.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309360" y="4983480"/>
            <a:ext cx="5440680" cy="1417320"/>
          </a:xfrm>
          <a:prstGeom prst="roundRect">
            <a:avLst>
              <a:gd name="adj" fmla="val 4516"/>
            </a:avLst>
          </a:prstGeom>
          <a:solidFill>
            <a:srgbClr val="1E2032"/>
          </a:solidFill>
          <a:ln w="9525">
            <a:solidFill>
              <a:srgbClr val="3A3D5C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73952" y="5148072"/>
            <a:ext cx="457200" cy="457200"/>
          </a:xfrm>
          <a:prstGeom prst="ellipse">
            <a:avLst/>
          </a:prstGeom>
          <a:solidFill>
            <a:srgbClr val="EF233C"/>
          </a:solidFill>
          <a:ln/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6473952" y="5129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1206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assume income drives price choice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5605272"/>
            <a:ext cx="45262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price are essentially uncorrelated — build strategy on behavior, not income alone.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Sales Data Analysis  |  Graduation Project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0771632" y="6437376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1E2032"/>
          </a:solidFill>
          <a:ln/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10771632" y="6437376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18 / 18</a:t>
            </a:r>
            <a:endParaRPr lang="en-US" sz="900" dirty="0"/>
          </a:p>
        </p:txBody>
      </p:sp>
      <p:pic>
        <p:nvPicPr>
          <p:cNvPr id="37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01984" y="256032"/>
            <a:ext cx="566928" cy="4389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2026-09-04T12:04:16Z</dcterms:created>
  <dcterms:modified xsi:type="dcterms:W3CDTF">2026-09-04T12:04:16Z</dcterms:modified>
</cp:coreProperties>
</file>